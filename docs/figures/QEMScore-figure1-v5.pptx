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849600" cy="41719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\caption{\textbf{One circuit, one exact target, one input withheld: the two</a:t>
            </a:r>
          </a:p>
          <a:p>
            <a:r>
              <a:t>models differ only in whether they read the measurement.}</a:t>
            </a:r>
          </a:p>
          <a:p>
            <a:r>
              <a:t>(a) A circuit and observable $O$ yield descriptors $x$, a noisy estimate $r$,</a:t>
            </a:r>
          </a:p>
          <a:p>
            <a:r>
              <a:t>and the exact ideal expectation $y$ from noiseless simulation.</a:t>
            </a:r>
          </a:p>
          <a:p>
            <a:r>
              <a:t>(b) The learned QEM model reads $(x, r)$; a capacity-matched control reads $x$</a:t>
            </a:r>
          </a:p>
          <a:p>
            <a:r>
              <a:t>alone. Both are fitted from the same candidate family under the same selection</a:t>
            </a:r>
          </a:p>
          <a:p>
            <a:r>
              <a:t>rule and scored against $y$ by held-out macro mean absolute error, $F$ and</a:t>
            </a:r>
          </a:p>
          <a:p>
            <a:r>
              <a:t>$C$; the diagram shows evaluation after fitting.</a:t>
            </a:r>
          </a:p>
          <a:p>
            <a:r>
              <a:t>(c) The measurement-associated gap is $D = C - F$. Against the affine</a:t>
            </a:r>
          </a:p>
          <a:p>
            <a:r>
              <a:t>feature-only control with error $A$, the share reproduced without measurement</a:t>
            </a:r>
          </a:p>
          <a:p>
            <a:r>
              <a:t>is $S = (A - C)/(A - F)$; a large $S$ can coexist with a large remaining-error</a:t>
            </a:r>
          </a:p>
          <a:p>
            <a:r>
              <a:t>reduction $D/C$.</a:t>
            </a:r>
          </a:p>
          <a:p>
            <a:r>
              <a:t>The schematic depicts the controlled testbed (RQ1). Released-data reanalyses</a:t>
            </a:r>
          </a:p>
          <a:p>
            <a:r>
              <a:t>(RQ2, RQ3) use each archive's own reference rather than exact $y$.}</a:t>
            </a:r>
          </a:p>
          <a:p>
            <a:endParaRPr/>
          </a:p>
          <a:p>
            <a:endParaRPr/>
          </a:p>
          <a:p>
            <a:r>
              <a:t>Sources: 01_intro.tex; 03_benchmark.tex; 04_results.tex; 05_field.tex. Composition reuses the quantum circuit and dual-input logic studied in Liao et al., https://www.nature.com/articles/s42256-024-00927-2, without copying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ANEL_A">
            <a:extLst>
              <a:ext uri="{FF2B5EF4-FFF2-40B4-BE49-F238E27FC236}">
                <a16:creationId xmlns:a16="http://schemas.microsoft.com/office/drawing/2014/main" id="{2E1EFDE7-1C66-4730-B708-44D1111E071B}"/>
              </a:ext>
            </a:extLst>
          </p:cNvPr>
          <p:cNvSpPr>
            <a:spLocks/>
          </p:cNvSpPr>
          <p:nvPr/>
        </p:nvSpPr>
        <p:spPr>
          <a:xfrm>
            <a:off x="76200" y="76200"/>
            <a:ext cx="4972050" cy="3943350"/>
          </a:xfrm>
          <a:prstGeom prst="roundRect">
            <a:avLst>
              <a:gd name="adj" fmla="val 3865"/>
            </a:avLst>
          </a:prstGeom>
          <a:solidFill>
            <a:srgbClr val="F6FAF8"/>
          </a:solidFill>
          <a:ln w="9525">
            <a:solidFill>
              <a:srgbClr val="E0E6E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" name="PANEL_B">
            <a:extLst>
              <a:ext uri="{FF2B5EF4-FFF2-40B4-BE49-F238E27FC236}">
                <a16:creationId xmlns:a16="http://schemas.microsoft.com/office/drawing/2014/main" id="{C5783A7C-51C6-4580-AC9C-C2446096EF8C}"/>
              </a:ext>
            </a:extLst>
          </p:cNvPr>
          <p:cNvSpPr>
            <a:spLocks/>
          </p:cNvSpPr>
          <p:nvPr/>
        </p:nvSpPr>
        <p:spPr>
          <a:xfrm>
            <a:off x="5238750" y="76200"/>
            <a:ext cx="6629400" cy="3943350"/>
          </a:xfrm>
          <a:prstGeom prst="roundRect">
            <a:avLst>
              <a:gd name="adj" fmla="val 3865"/>
            </a:avLst>
          </a:prstGeom>
          <a:solidFill>
            <a:srgbClr val="FCFAF7"/>
          </a:solidFill>
          <a:ln w="9525">
            <a:solidFill>
              <a:srgbClr val="E0E6E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" name="PANEL_C">
            <a:extLst>
              <a:ext uri="{FF2B5EF4-FFF2-40B4-BE49-F238E27FC236}">
                <a16:creationId xmlns:a16="http://schemas.microsoft.com/office/drawing/2014/main" id="{D0824A0A-E33D-404C-AA08-0D42C00B41FB}"/>
              </a:ext>
            </a:extLst>
          </p:cNvPr>
          <p:cNvSpPr>
            <a:spLocks/>
          </p:cNvSpPr>
          <p:nvPr/>
        </p:nvSpPr>
        <p:spPr>
          <a:xfrm>
            <a:off x="12058650" y="76200"/>
            <a:ext cx="3714750" cy="3943350"/>
          </a:xfrm>
          <a:prstGeom prst="roundRect">
            <a:avLst>
              <a:gd name="adj" fmla="val 4103"/>
            </a:avLst>
          </a:prstGeom>
          <a:solidFill>
            <a:srgbClr val="F8FAF9"/>
          </a:solidFill>
          <a:ln w="9525">
            <a:solidFill>
              <a:srgbClr val="E0E6E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grpSp>
        <p:nvGrpSpPr>
          <p:cNvPr id="27" name="GROUP_FRAME">
            <a:extLst>
              <a:ext uri="{FF2B5EF4-FFF2-40B4-BE49-F238E27FC236}">
                <a16:creationId xmlns:a16="http://schemas.microsoft.com/office/drawing/2014/main" id="{BF1C8715-1162-C9CA-F0E0-5B15BC3A8235}"/>
              </a:ext>
            </a:extLst>
          </p:cNvPr>
          <p:cNvGrpSpPr/>
          <p:nvPr/>
        </p:nvGrpSpPr>
        <p:grpSpPr>
          <a:xfrm>
            <a:off x="228600" y="190500"/>
            <a:ext cx="15392400" cy="457200"/>
            <a:chOff x="228600" y="190500"/>
            <a:chExt cx="15392400" cy="457200"/>
          </a:xfrm>
        </p:grpSpPr>
        <p:sp>
          <p:nvSpPr>
            <p:cNvPr id="4" name="FRAME_heading_1">
              <a:extLst>
                <a:ext uri="{FF2B5EF4-FFF2-40B4-BE49-F238E27FC236}">
                  <a16:creationId xmlns:a16="http://schemas.microsoft.com/office/drawing/2014/main" id="{CEF8C2B2-33E2-4951-AC9C-86B4A30EA804}"/>
                </a:ext>
              </a:extLst>
            </p:cNvPr>
            <p:cNvSpPr>
              <a:spLocks/>
            </p:cNvSpPr>
            <p:nvPr/>
          </p:nvSpPr>
          <p:spPr>
            <a:xfrm>
              <a:off x="228600" y="190500"/>
              <a:ext cx="3762375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325" b="1">
                  <a:solidFill>
                    <a:srgbClr val="202923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202923"/>
                  </a:solidFill>
                  <a:latin typeface="Arial"/>
                  <a:ea typeface="Arial"/>
                  <a:cs typeface="Arial"/>
                </a:rPr>
                <a:t>a  Quantum testbed</a:t>
              </a:r>
            </a:p>
          </p:txBody>
        </p:sp>
        <p:sp>
          <p:nvSpPr>
            <p:cNvPr id="5" name="FRAME_section_1">
              <a:extLst>
                <a:ext uri="{FF2B5EF4-FFF2-40B4-BE49-F238E27FC236}">
                  <a16:creationId xmlns:a16="http://schemas.microsoft.com/office/drawing/2014/main" id="{26C15431-58B9-4BBD-B4E4-C3C30F28340F}"/>
                </a:ext>
              </a:extLst>
            </p:cNvPr>
            <p:cNvSpPr>
              <a:spLocks/>
            </p:cNvSpPr>
            <p:nvPr/>
          </p:nvSpPr>
          <p:spPr>
            <a:xfrm>
              <a:off x="4000500" y="190500"/>
              <a:ext cx="895350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>
                <a:def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rPr>
                <a:t>§3.1</a:t>
              </a:r>
            </a:p>
          </p:txBody>
        </p:sp>
        <p:sp>
          <p:nvSpPr>
            <p:cNvPr id="6" name="FRAME_rule_1">
              <a:extLst>
                <a:ext uri="{FF2B5EF4-FFF2-40B4-BE49-F238E27FC236}">
                  <a16:creationId xmlns:a16="http://schemas.microsoft.com/office/drawing/2014/main" id="{E1E7F44A-5F1C-433A-B8A3-6A77EFE66654}"/>
                </a:ext>
              </a:extLst>
            </p:cNvPr>
            <p:cNvSpPr>
              <a:spLocks/>
            </p:cNvSpPr>
            <p:nvPr/>
          </p:nvSpPr>
          <p:spPr>
            <a:xfrm>
              <a:off x="228600" y="647700"/>
              <a:ext cx="4667250" cy="0"/>
            </a:xfrm>
            <a:prstGeom prst="line">
              <a:avLst/>
            </a:prstGeom>
            <a:noFill/>
            <a:ln w="19050">
              <a:solidFill>
                <a:srgbClr val="DCE6DF"/>
              </a:solidFill>
            </a:ln>
          </p:spPr>
        </p:sp>
        <p:sp>
          <p:nvSpPr>
            <p:cNvPr id="7" name="FRAME_heading_2">
              <a:extLst>
                <a:ext uri="{FF2B5EF4-FFF2-40B4-BE49-F238E27FC236}">
                  <a16:creationId xmlns:a16="http://schemas.microsoft.com/office/drawing/2014/main" id="{82A03D0A-2C8F-41E7-AAFE-3C8AD724D37B}"/>
                </a:ext>
              </a:extLst>
            </p:cNvPr>
            <p:cNvSpPr>
              <a:spLocks/>
            </p:cNvSpPr>
            <p:nvPr/>
          </p:nvSpPr>
          <p:spPr>
            <a:xfrm>
              <a:off x="5334000" y="190500"/>
              <a:ext cx="5514975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325" b="1">
                  <a:solidFill>
                    <a:srgbClr val="202923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202923"/>
                  </a:solidFill>
                  <a:latin typeface="Arial"/>
                  <a:ea typeface="Arial"/>
                  <a:cs typeface="Arial"/>
                </a:rPr>
                <a:t>b  QEM comparison</a:t>
              </a:r>
            </a:p>
          </p:txBody>
        </p:sp>
        <p:sp>
          <p:nvSpPr>
            <p:cNvPr id="8" name="FRAME_section_2">
              <a:extLst>
                <a:ext uri="{FF2B5EF4-FFF2-40B4-BE49-F238E27FC236}">
                  <a16:creationId xmlns:a16="http://schemas.microsoft.com/office/drawing/2014/main" id="{A07A2D92-F223-4EFD-9313-70F67A122639}"/>
                </a:ext>
              </a:extLst>
            </p:cNvPr>
            <p:cNvSpPr>
              <a:spLocks/>
            </p:cNvSpPr>
            <p:nvPr/>
          </p:nvSpPr>
          <p:spPr>
            <a:xfrm>
              <a:off x="10858500" y="190500"/>
              <a:ext cx="895350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>
                <a:def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rPr>
                <a:t>§3.4</a:t>
              </a:r>
            </a:p>
          </p:txBody>
        </p:sp>
        <p:sp>
          <p:nvSpPr>
            <p:cNvPr id="9" name="FRAME_rule_2">
              <a:extLst>
                <a:ext uri="{FF2B5EF4-FFF2-40B4-BE49-F238E27FC236}">
                  <a16:creationId xmlns:a16="http://schemas.microsoft.com/office/drawing/2014/main" id="{4A951AD0-BA32-43AD-9EB6-747A5A92461C}"/>
                </a:ext>
              </a:extLst>
            </p:cNvPr>
            <p:cNvSpPr>
              <a:spLocks/>
            </p:cNvSpPr>
            <p:nvPr/>
          </p:nvSpPr>
          <p:spPr>
            <a:xfrm>
              <a:off x="5334000" y="647700"/>
              <a:ext cx="6419850" cy="0"/>
            </a:xfrm>
            <a:prstGeom prst="line">
              <a:avLst/>
            </a:prstGeom>
            <a:noFill/>
            <a:ln w="19050">
              <a:solidFill>
                <a:srgbClr val="DCE6DF"/>
              </a:solidFill>
            </a:ln>
          </p:spPr>
        </p:sp>
        <p:sp>
          <p:nvSpPr>
            <p:cNvPr id="10" name="FRAME_heading_3">
              <a:extLst>
                <a:ext uri="{FF2B5EF4-FFF2-40B4-BE49-F238E27FC236}">
                  <a16:creationId xmlns:a16="http://schemas.microsoft.com/office/drawing/2014/main" id="{346567D6-B59B-4EB4-A47C-9ACB5F45ACEF}"/>
                </a:ext>
              </a:extLst>
            </p:cNvPr>
            <p:cNvSpPr>
              <a:spLocks/>
            </p:cNvSpPr>
            <p:nvPr/>
          </p:nvSpPr>
          <p:spPr>
            <a:xfrm>
              <a:off x="12192000" y="190500"/>
              <a:ext cx="2524125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325" b="1">
                  <a:solidFill>
                    <a:srgbClr val="202923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202923"/>
                  </a:solidFill>
                  <a:latin typeface="Arial"/>
                  <a:ea typeface="Arial"/>
                  <a:cs typeface="Arial"/>
                </a:rPr>
                <a:t>c  Attribution</a:t>
              </a:r>
            </a:p>
          </p:txBody>
        </p:sp>
        <p:sp>
          <p:nvSpPr>
            <p:cNvPr id="11" name="FRAME_section_3">
              <a:extLst>
                <a:ext uri="{FF2B5EF4-FFF2-40B4-BE49-F238E27FC236}">
                  <a16:creationId xmlns:a16="http://schemas.microsoft.com/office/drawing/2014/main" id="{0B0D40D6-E5D6-4D2F-88FE-6DAF0ABA9D2C}"/>
                </a:ext>
              </a:extLst>
            </p:cNvPr>
            <p:cNvSpPr>
              <a:spLocks/>
            </p:cNvSpPr>
            <p:nvPr/>
          </p:nvSpPr>
          <p:spPr>
            <a:xfrm>
              <a:off x="14725650" y="190500"/>
              <a:ext cx="895350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r">
                <a:def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rPr>
                <a:t>§4.2</a:t>
              </a:r>
            </a:p>
          </p:txBody>
        </p:sp>
        <p:sp>
          <p:nvSpPr>
            <p:cNvPr id="12" name="FRAME_rule_3">
              <a:extLst>
                <a:ext uri="{FF2B5EF4-FFF2-40B4-BE49-F238E27FC236}">
                  <a16:creationId xmlns:a16="http://schemas.microsoft.com/office/drawing/2014/main" id="{F88080E7-30BE-43CA-8B5C-5DA50D075240}"/>
                </a:ext>
              </a:extLst>
            </p:cNvPr>
            <p:cNvSpPr>
              <a:spLocks/>
            </p:cNvSpPr>
            <p:nvPr/>
          </p:nvSpPr>
          <p:spPr>
            <a:xfrm>
              <a:off x="12192000" y="647700"/>
              <a:ext cx="3429000" cy="0"/>
            </a:xfrm>
            <a:prstGeom prst="line">
              <a:avLst/>
            </a:prstGeom>
            <a:noFill/>
            <a:ln w="19050">
              <a:solidFill>
                <a:srgbClr val="DCE6DF"/>
              </a:solidFill>
            </a:ln>
          </p:spPr>
        </p:sp>
      </p:grpSp>
      <p:sp>
        <p:nvSpPr>
          <p:cNvPr id="13" name="ITEM_CIRCUIT_ANCHOR">
            <a:extLst>
              <a:ext uri="{FF2B5EF4-FFF2-40B4-BE49-F238E27FC236}">
                <a16:creationId xmlns:a16="http://schemas.microsoft.com/office/drawing/2014/main" id="{83AF2B36-B2AA-4944-ADC3-159484D39072}"/>
              </a:ext>
            </a:extLst>
          </p:cNvPr>
          <p:cNvSpPr>
            <a:spLocks/>
          </p:cNvSpPr>
          <p:nvPr/>
        </p:nvSpPr>
        <p:spPr>
          <a:xfrm>
            <a:off x="228600" y="1752600"/>
            <a:ext cx="1638300" cy="1276350"/>
          </a:xfrm>
          <a:prstGeom prst="rect">
            <a:avLst/>
          </a:prstGeom>
          <a:noFill/>
          <a:ln w="0">
            <a:noFill/>
          </a:ln>
        </p:spPr>
      </p:sp>
      <p:grpSp>
        <p:nvGrpSpPr>
          <p:cNvPr id="29" name="GROUP_CIRCUIT">
            <a:extLst>
              <a:ext uri="{FF2B5EF4-FFF2-40B4-BE49-F238E27FC236}">
                <a16:creationId xmlns:a16="http://schemas.microsoft.com/office/drawing/2014/main" id="{C27B5E46-3E6B-CD69-BA45-70FD03426607}"/>
              </a:ext>
            </a:extLst>
          </p:cNvPr>
          <p:cNvGrpSpPr/>
          <p:nvPr/>
        </p:nvGrpSpPr>
        <p:grpSpPr>
          <a:xfrm>
            <a:off x="228600" y="1762125"/>
            <a:ext cx="1638300" cy="1704975"/>
            <a:chOff x="228600" y="1762125"/>
            <a:chExt cx="1638300" cy="1704975"/>
          </a:xfrm>
        </p:grpSpPr>
        <p:sp>
          <p:nvSpPr>
            <p:cNvPr id="14" name="CIRCUIT_KET_208">
              <a:extLst>
                <a:ext uri="{FF2B5EF4-FFF2-40B4-BE49-F238E27FC236}">
                  <a16:creationId xmlns:a16="http://schemas.microsoft.com/office/drawing/2014/main" id="{856A2B38-1102-41A6-BD8D-432276B3D85E}"/>
                </a:ext>
              </a:extLst>
            </p:cNvPr>
            <p:cNvSpPr>
              <a:spLocks/>
            </p:cNvSpPr>
            <p:nvPr/>
          </p:nvSpPr>
          <p:spPr>
            <a:xfrm>
              <a:off x="228600" y="1800225"/>
              <a:ext cx="4953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00" b="0">
                  <a:solidFill>
                    <a:srgbClr val="202923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202923"/>
                  </a:solidFill>
                  <a:latin typeface="Arial"/>
                  <a:ea typeface="Arial"/>
                  <a:cs typeface="Arial"/>
                </a:rPr>
                <a:t>|0⟩</a:t>
              </a:r>
            </a:p>
          </p:txBody>
        </p:sp>
        <p:sp>
          <p:nvSpPr>
            <p:cNvPr id="15" name="CIRCUIT_wire_208">
              <a:extLst>
                <a:ext uri="{FF2B5EF4-FFF2-40B4-BE49-F238E27FC236}">
                  <a16:creationId xmlns:a16="http://schemas.microsoft.com/office/drawing/2014/main" id="{26D7D105-441E-4F3B-A097-04BAFD050F1C}"/>
                </a:ext>
              </a:extLst>
            </p:cNvPr>
            <p:cNvSpPr>
              <a:spLocks/>
            </p:cNvSpPr>
            <p:nvPr/>
          </p:nvSpPr>
          <p:spPr>
            <a:xfrm>
              <a:off x="723900" y="1981200"/>
              <a:ext cx="1143000" cy="0"/>
            </a:xfrm>
            <a:prstGeom prst="line">
              <a:avLst/>
            </a:prstGeom>
            <a:noFill/>
            <a:ln w="23813">
              <a:solidFill>
                <a:srgbClr val="202923"/>
              </a:solidFill>
            </a:ln>
          </p:spPr>
        </p:sp>
        <p:sp>
          <p:nvSpPr>
            <p:cNvPr id="16" name="CIRCUIT_KET_251">
              <a:extLst>
                <a:ext uri="{FF2B5EF4-FFF2-40B4-BE49-F238E27FC236}">
                  <a16:creationId xmlns:a16="http://schemas.microsoft.com/office/drawing/2014/main" id="{00A94D1E-FA57-4806-B44A-FC4A47B297B4}"/>
                </a:ext>
              </a:extLst>
            </p:cNvPr>
            <p:cNvSpPr>
              <a:spLocks/>
            </p:cNvSpPr>
            <p:nvPr/>
          </p:nvSpPr>
          <p:spPr>
            <a:xfrm>
              <a:off x="228600" y="2209800"/>
              <a:ext cx="4953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00" b="0">
                  <a:solidFill>
                    <a:srgbClr val="202923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202923"/>
                  </a:solidFill>
                  <a:latin typeface="Arial"/>
                  <a:ea typeface="Arial"/>
                  <a:cs typeface="Arial"/>
                </a:rPr>
                <a:t>|0⟩</a:t>
              </a:r>
            </a:p>
          </p:txBody>
        </p:sp>
        <p:sp>
          <p:nvSpPr>
            <p:cNvPr id="17" name="CIRCUIT_wire_251">
              <a:extLst>
                <a:ext uri="{FF2B5EF4-FFF2-40B4-BE49-F238E27FC236}">
                  <a16:creationId xmlns:a16="http://schemas.microsoft.com/office/drawing/2014/main" id="{641E85BD-A1EE-413F-BC44-7C65DEDED5BF}"/>
                </a:ext>
              </a:extLst>
            </p:cNvPr>
            <p:cNvSpPr>
              <a:spLocks/>
            </p:cNvSpPr>
            <p:nvPr/>
          </p:nvSpPr>
          <p:spPr>
            <a:xfrm>
              <a:off x="723900" y="2390775"/>
              <a:ext cx="1143000" cy="0"/>
            </a:xfrm>
            <a:prstGeom prst="line">
              <a:avLst/>
            </a:prstGeom>
            <a:noFill/>
            <a:ln w="23813">
              <a:solidFill>
                <a:srgbClr val="202923"/>
              </a:solidFill>
            </a:ln>
          </p:spPr>
        </p:sp>
        <p:sp>
          <p:nvSpPr>
            <p:cNvPr id="18" name="CIRCUIT_KET_294">
              <a:extLst>
                <a:ext uri="{FF2B5EF4-FFF2-40B4-BE49-F238E27FC236}">
                  <a16:creationId xmlns:a16="http://schemas.microsoft.com/office/drawing/2014/main" id="{14F53F0C-63BE-4F66-83AD-651B74ACC5BF}"/>
                </a:ext>
              </a:extLst>
            </p:cNvPr>
            <p:cNvSpPr>
              <a:spLocks/>
            </p:cNvSpPr>
            <p:nvPr/>
          </p:nvSpPr>
          <p:spPr>
            <a:xfrm>
              <a:off x="228600" y="2619375"/>
              <a:ext cx="4953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00" b="0">
                  <a:solidFill>
                    <a:srgbClr val="202923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202923"/>
                  </a:solidFill>
                  <a:latin typeface="Arial"/>
                  <a:ea typeface="Arial"/>
                  <a:cs typeface="Arial"/>
                </a:rPr>
                <a:t>|0⟩</a:t>
              </a:r>
            </a:p>
          </p:txBody>
        </p:sp>
        <p:sp>
          <p:nvSpPr>
            <p:cNvPr id="19" name="CIRCUIT_wire_294">
              <a:extLst>
                <a:ext uri="{FF2B5EF4-FFF2-40B4-BE49-F238E27FC236}">
                  <a16:creationId xmlns:a16="http://schemas.microsoft.com/office/drawing/2014/main" id="{129EA35C-C31A-4610-9FC0-74EA887D2796}"/>
                </a:ext>
              </a:extLst>
            </p:cNvPr>
            <p:cNvSpPr>
              <a:spLocks/>
            </p:cNvSpPr>
            <p:nvPr/>
          </p:nvSpPr>
          <p:spPr>
            <a:xfrm>
              <a:off x="723900" y="2800350"/>
              <a:ext cx="1143000" cy="0"/>
            </a:xfrm>
            <a:prstGeom prst="line">
              <a:avLst/>
            </a:prstGeom>
            <a:noFill/>
            <a:ln w="23813">
              <a:solidFill>
                <a:srgbClr val="202923"/>
              </a:solidFill>
            </a:ln>
          </p:spPr>
        </p:sp>
        <p:sp>
          <p:nvSpPr>
            <p:cNvPr id="20" name="CIRCUIT_U">
              <a:extLst>
                <a:ext uri="{FF2B5EF4-FFF2-40B4-BE49-F238E27FC236}">
                  <a16:creationId xmlns:a16="http://schemas.microsoft.com/office/drawing/2014/main" id="{1D7EAC3C-B15C-438A-9E1E-9EC0036B58F6}"/>
                </a:ext>
              </a:extLst>
            </p:cNvPr>
            <p:cNvSpPr>
              <a:spLocks/>
            </p:cNvSpPr>
            <p:nvPr/>
          </p:nvSpPr>
          <p:spPr>
            <a:xfrm>
              <a:off x="866775" y="1762125"/>
              <a:ext cx="819150" cy="1257300"/>
            </a:xfrm>
            <a:prstGeom prst="rect">
              <a:avLst/>
            </a:prstGeom>
            <a:solidFill>
              <a:srgbClr val="EDF6F1"/>
            </a:solidFill>
            <a:ln w="19050">
              <a:solidFill>
                <a:srgbClr val="365E49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202923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202923"/>
                  </a:solidFill>
                  <a:latin typeface="Arial"/>
                  <a:ea typeface="Arial"/>
                  <a:cs typeface="Arial"/>
                </a:rPr>
                <a:t>U(θ)</a:t>
              </a:r>
            </a:p>
          </p:txBody>
        </p:sp>
        <p:sp>
          <p:nvSpPr>
            <p:cNvPr id="21" name="CIRCUIT_NAME">
              <a:extLst>
                <a:ext uri="{FF2B5EF4-FFF2-40B4-BE49-F238E27FC236}">
                  <a16:creationId xmlns:a16="http://schemas.microsoft.com/office/drawing/2014/main" id="{E3C54A27-7BA9-4BB4-BC7D-9D427382BB67}"/>
                </a:ext>
              </a:extLst>
            </p:cNvPr>
            <p:cNvSpPr>
              <a:spLocks/>
            </p:cNvSpPr>
            <p:nvPr/>
          </p:nvSpPr>
          <p:spPr>
            <a:xfrm>
              <a:off x="228600" y="3105150"/>
              <a:ext cx="16383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rPr>
                <a:t>Circuit</a:t>
              </a:r>
            </a:p>
          </p:txBody>
        </p:sp>
      </p:grpSp>
      <p:sp>
        <p:nvSpPr>
          <p:cNvPr id="22" name="ITEM_DESCRIPTORS">
            <a:extLst>
              <a:ext uri="{FF2B5EF4-FFF2-40B4-BE49-F238E27FC236}">
                <a16:creationId xmlns:a16="http://schemas.microsoft.com/office/drawing/2014/main" id="{B67E3A25-5272-4291-91FB-A556606F7D0C}"/>
              </a:ext>
            </a:extLst>
          </p:cNvPr>
          <p:cNvSpPr>
            <a:spLocks/>
          </p:cNvSpPr>
          <p:nvPr/>
        </p:nvSpPr>
        <p:spPr>
          <a:xfrm>
            <a:off x="2438400" y="857250"/>
            <a:ext cx="2343150" cy="609600"/>
          </a:xfrm>
          <a:prstGeom prst="roundRect">
            <a:avLst>
              <a:gd name="adj" fmla="val 12500"/>
            </a:avLst>
          </a:prstGeom>
          <a:solidFill>
            <a:srgbClr val="EDF6F1"/>
          </a:solidFill>
          <a:ln w="19050">
            <a:solidFill>
              <a:srgbClr val="365E49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65E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5E49"/>
                </a:solidFill>
                <a:latin typeface="Arial"/>
                <a:ea typeface="Arial"/>
                <a:cs typeface="Arial"/>
              </a:rPr>
              <a:t>Descriptors x</a:t>
            </a:r>
          </a:p>
        </p:txBody>
      </p:sp>
      <p:sp>
        <p:nvSpPr>
          <p:cNvPr id="23" name="ITEM_NOISY_EXECUTION">
            <a:extLst>
              <a:ext uri="{FF2B5EF4-FFF2-40B4-BE49-F238E27FC236}">
                <a16:creationId xmlns:a16="http://schemas.microsoft.com/office/drawing/2014/main" id="{B4235160-17FA-4E57-BD7A-C7E024B5D227}"/>
              </a:ext>
            </a:extLst>
          </p:cNvPr>
          <p:cNvSpPr>
            <a:spLocks/>
          </p:cNvSpPr>
          <p:nvPr/>
        </p:nvSpPr>
        <p:spPr>
          <a:xfrm>
            <a:off x="2438400" y="2085975"/>
            <a:ext cx="2343150" cy="609600"/>
          </a:xfrm>
          <a:prstGeom prst="roundRect">
            <a:avLst>
              <a:gd name="adj" fmla="val 12500"/>
            </a:avLst>
          </a:prstGeom>
          <a:solidFill>
            <a:srgbClr val="FBE8DD"/>
          </a:solidFill>
          <a:ln w="19050">
            <a:solidFill>
              <a:srgbClr val="B66037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B66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6037"/>
                </a:solidFill>
                <a:latin typeface="Arial"/>
                <a:ea typeface="Arial"/>
                <a:cs typeface="Arial"/>
              </a:rPr>
              <a:t>Noisy simulation</a:t>
            </a:r>
          </a:p>
        </p:txBody>
      </p:sp>
      <p:sp>
        <p:nvSpPr>
          <p:cNvPr id="24" name="ITEM_IDEAL_SIMULATION">
            <a:extLst>
              <a:ext uri="{FF2B5EF4-FFF2-40B4-BE49-F238E27FC236}">
                <a16:creationId xmlns:a16="http://schemas.microsoft.com/office/drawing/2014/main" id="{FC40CAE2-A260-4C27-9894-A54830D491FA}"/>
              </a:ext>
            </a:extLst>
          </p:cNvPr>
          <p:cNvSpPr>
            <a:spLocks/>
          </p:cNvSpPr>
          <p:nvPr/>
        </p:nvSpPr>
        <p:spPr>
          <a:xfrm>
            <a:off x="2438400" y="3219450"/>
            <a:ext cx="2343150" cy="609600"/>
          </a:xfrm>
          <a:prstGeom prst="roundRect">
            <a:avLst>
              <a:gd name="adj" fmla="val 12500"/>
            </a:avLst>
          </a:prstGeom>
          <a:solidFill>
            <a:srgbClr val="FCF3E4"/>
          </a:solidFill>
          <a:ln w="19050">
            <a:solidFill>
              <a:srgbClr val="A96C2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A96C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96C21"/>
                </a:solidFill>
                <a:latin typeface="Arial"/>
                <a:ea typeface="Arial"/>
                <a:cs typeface="Arial"/>
              </a:rPr>
              <a:t>Ideal simulation</a:t>
            </a:r>
          </a:p>
        </p:txBody>
      </p:sp>
      <p:sp>
        <p:nvSpPr>
          <p:cNvPr id="25" name="ITEM_DESC_TURN">
            <a:extLst>
              <a:ext uri="{FF2B5EF4-FFF2-40B4-BE49-F238E27FC236}">
                <a16:creationId xmlns:a16="http://schemas.microsoft.com/office/drawing/2014/main" id="{AB624CDE-66CA-46A1-AF2C-A73C9707AC8D}"/>
              </a:ext>
            </a:extLst>
          </p:cNvPr>
          <p:cNvSpPr>
            <a:spLocks/>
          </p:cNvSpPr>
          <p:nvPr/>
        </p:nvSpPr>
        <p:spPr>
          <a:xfrm>
            <a:off x="2071688" y="1157288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" name="ITEM_SOURCE_FORK">
            <a:extLst>
              <a:ext uri="{FF2B5EF4-FFF2-40B4-BE49-F238E27FC236}">
                <a16:creationId xmlns:a16="http://schemas.microsoft.com/office/drawing/2014/main" id="{BA74688B-44C0-4631-99BA-937443608C30}"/>
              </a:ext>
            </a:extLst>
          </p:cNvPr>
          <p:cNvSpPr>
            <a:spLocks/>
          </p:cNvSpPr>
          <p:nvPr/>
        </p:nvSpPr>
        <p:spPr>
          <a:xfrm>
            <a:off x="2071688" y="2386013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4" name="ITEM_CIRCUIT_TO_FORK"/>
          <p:cNvCxnSpPr>
            <a:stCxn id="13" idx="3"/>
            <a:endCxn id="26" idx="1"/>
          </p:cNvCxnSpPr>
          <p:nvPr/>
        </p:nvCxnSpPr>
        <p:spPr>
          <a:xfrm>
            <a:off x="1866900" y="2390775"/>
            <a:ext cx="204788" cy="0"/>
          </a:xfrm>
          <a:prstGeom prst="straightConnector1">
            <a:avLst/>
          </a:prstGeom>
          <a:ln w="23813" cap="rnd">
            <a:solidFill>
              <a:srgbClr val="67756D"/>
            </a:solidFill>
            <a:round/>
          </a:ln>
        </p:spPr>
      </p:cxnSp>
      <p:cxnSp>
        <p:nvCxnSpPr>
          <p:cNvPr id="95" name="ITEM_DESC_UP"/>
          <p:cNvCxnSpPr>
            <a:stCxn id="26" idx="0"/>
            <a:endCxn id="25" idx="2"/>
          </p:cNvCxnSpPr>
          <p:nvPr/>
        </p:nvCxnSpPr>
        <p:spPr>
          <a:xfrm flipV="1">
            <a:off x="2076451" y="1166813"/>
            <a:ext cx="0" cy="1219200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</a:ln>
        </p:spPr>
      </p:cxnSp>
      <p:cxnSp>
        <p:nvCxnSpPr>
          <p:cNvPr id="96" name="ITEM_DESC_END"/>
          <p:cNvCxnSpPr>
            <a:stCxn id="25" idx="3"/>
            <a:endCxn id="22" idx="1"/>
          </p:cNvCxnSpPr>
          <p:nvPr/>
        </p:nvCxnSpPr>
        <p:spPr>
          <a:xfrm flipV="1">
            <a:off x="2081213" y="1162050"/>
            <a:ext cx="357187" cy="0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  <a:tailEnd type="triangle" w="med" len="med"/>
          </a:ln>
        </p:spPr>
      </p:cxnSp>
      <p:cxnSp>
        <p:nvCxnSpPr>
          <p:cNvPr id="97" name="ITEM_CIRCUIT_TO_NOISY"/>
          <p:cNvCxnSpPr>
            <a:stCxn id="26" idx="3"/>
            <a:endCxn id="23" idx="1"/>
          </p:cNvCxnSpPr>
          <p:nvPr/>
        </p:nvCxnSpPr>
        <p:spPr>
          <a:xfrm flipV="1">
            <a:off x="2081213" y="2390775"/>
            <a:ext cx="357187" cy="0"/>
          </a:xfrm>
          <a:prstGeom prst="straightConnector1">
            <a:avLst/>
          </a:prstGeom>
          <a:ln w="23813" cap="rnd">
            <a:solidFill>
              <a:srgbClr val="B66037"/>
            </a:solidFill>
            <a:round/>
            <a:tailEnd type="triangle" w="med" len="med"/>
          </a:ln>
        </p:spPr>
      </p:cxnSp>
      <p:sp>
        <p:nvSpPr>
          <p:cNvPr id="31" name="ITEM_IDEAL_TURN">
            <a:extLst>
              <a:ext uri="{FF2B5EF4-FFF2-40B4-BE49-F238E27FC236}">
                <a16:creationId xmlns:a16="http://schemas.microsoft.com/office/drawing/2014/main" id="{A1E59074-2A35-4450-8232-2B3D0BAC9F94}"/>
              </a:ext>
            </a:extLst>
          </p:cNvPr>
          <p:cNvSpPr>
            <a:spLocks/>
          </p:cNvSpPr>
          <p:nvPr/>
        </p:nvSpPr>
        <p:spPr>
          <a:xfrm>
            <a:off x="2071688" y="3519488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9" name="ITEM_IDEAL_DOWN"/>
          <p:cNvCxnSpPr>
            <a:stCxn id="26" idx="2"/>
            <a:endCxn id="31" idx="0"/>
          </p:cNvCxnSpPr>
          <p:nvPr/>
        </p:nvCxnSpPr>
        <p:spPr>
          <a:xfrm>
            <a:off x="2076451" y="2395538"/>
            <a:ext cx="0" cy="1123950"/>
          </a:xfrm>
          <a:prstGeom prst="straightConnector1">
            <a:avLst/>
          </a:prstGeom>
          <a:ln w="23813" cap="rnd">
            <a:solidFill>
              <a:srgbClr val="A96C21"/>
            </a:solidFill>
            <a:round/>
          </a:ln>
        </p:spPr>
      </p:cxnSp>
      <p:cxnSp>
        <p:nvCxnSpPr>
          <p:cNvPr id="100" name="ITEM_IDEAL_END"/>
          <p:cNvCxnSpPr>
            <a:stCxn id="31" idx="3"/>
            <a:endCxn id="24" idx="1"/>
          </p:cNvCxnSpPr>
          <p:nvPr/>
        </p:nvCxnSpPr>
        <p:spPr>
          <a:xfrm flipV="1">
            <a:off x="2081213" y="3524250"/>
            <a:ext cx="357187" cy="0"/>
          </a:xfrm>
          <a:prstGeom prst="straightConnector1">
            <a:avLst/>
          </a:prstGeom>
          <a:ln w="23813" cap="rnd">
            <a:solidFill>
              <a:srgbClr val="A96C21"/>
            </a:solidFill>
            <a:round/>
            <a:tailEnd type="triangle" w="med" len="med"/>
          </a:ln>
        </p:spPr>
      </p:cxnSp>
      <p:sp>
        <p:nvSpPr>
          <p:cNvPr id="34" name="CONTRAST_CONTROL_MODEL">
            <a:extLst>
              <a:ext uri="{FF2B5EF4-FFF2-40B4-BE49-F238E27FC236}">
                <a16:creationId xmlns:a16="http://schemas.microsoft.com/office/drawing/2014/main" id="{71ED4D5C-B777-4CFA-B843-A9AB2C00192A}"/>
              </a:ext>
            </a:extLst>
          </p:cNvPr>
          <p:cNvSpPr>
            <a:spLocks/>
          </p:cNvSpPr>
          <p:nvPr/>
        </p:nvSpPr>
        <p:spPr>
          <a:xfrm>
            <a:off x="7067550" y="8572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6F1"/>
          </a:solidFill>
          <a:ln w="19050">
            <a:solidFill>
              <a:srgbClr val="365E49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 b="1">
                <a:solidFill>
                  <a:srgbClr val="365E4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65E49"/>
                </a:solidFill>
                <a:latin typeface="Arial"/>
                <a:ea typeface="Arial"/>
                <a:cs typeface="Arial"/>
              </a:rPr>
              <a:t>Control (x)</a:t>
            </a:r>
          </a:p>
        </p:txBody>
      </p:sp>
      <p:sp>
        <p:nvSpPr>
          <p:cNvPr id="35" name="CONTRAST_FULL_MODEL">
            <a:extLst>
              <a:ext uri="{FF2B5EF4-FFF2-40B4-BE49-F238E27FC236}">
                <a16:creationId xmlns:a16="http://schemas.microsoft.com/office/drawing/2014/main" id="{56326379-C579-459B-AA7C-9FEB2CAC6676}"/>
              </a:ext>
            </a:extLst>
          </p:cNvPr>
          <p:cNvSpPr>
            <a:spLocks/>
          </p:cNvSpPr>
          <p:nvPr/>
        </p:nvSpPr>
        <p:spPr>
          <a:xfrm>
            <a:off x="7067550" y="2085975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FBE8DD"/>
          </a:solidFill>
          <a:ln w="19050">
            <a:solidFill>
              <a:srgbClr val="B66037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B66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6037"/>
                </a:solidFill>
                <a:latin typeface="Arial"/>
                <a:ea typeface="Arial"/>
                <a:cs typeface="Arial"/>
              </a:rPr>
              <a:t>QEM model (x, r)</a:t>
            </a:r>
          </a:p>
        </p:txBody>
      </p:sp>
      <p:sp>
        <p:nvSpPr>
          <p:cNvPr id="36" name="CONTRAST_X_FORK">
            <a:extLst>
              <a:ext uri="{FF2B5EF4-FFF2-40B4-BE49-F238E27FC236}">
                <a16:creationId xmlns:a16="http://schemas.microsoft.com/office/drawing/2014/main" id="{7B4A7A68-2EC4-4BA5-B00F-2CCB96E271F0}"/>
              </a:ext>
            </a:extLst>
          </p:cNvPr>
          <p:cNvSpPr>
            <a:spLocks/>
          </p:cNvSpPr>
          <p:nvPr/>
        </p:nvSpPr>
        <p:spPr>
          <a:xfrm>
            <a:off x="5862638" y="1157288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4" name="CONTRAST_X_TO_FORK"/>
          <p:cNvCxnSpPr>
            <a:stCxn id="22" idx="3"/>
            <a:endCxn id="36" idx="1"/>
          </p:cNvCxnSpPr>
          <p:nvPr/>
        </p:nvCxnSpPr>
        <p:spPr>
          <a:xfrm>
            <a:off x="4781550" y="1162050"/>
            <a:ext cx="1081088" cy="0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</a:ln>
        </p:spPr>
      </p:cxnSp>
      <p:cxnSp>
        <p:nvCxnSpPr>
          <p:cNvPr id="105" name="CONTRAST_X_TO_CONTROL"/>
          <p:cNvCxnSpPr>
            <a:stCxn id="36" idx="3"/>
            <a:endCxn id="34" idx="1"/>
          </p:cNvCxnSpPr>
          <p:nvPr/>
        </p:nvCxnSpPr>
        <p:spPr>
          <a:xfrm flipV="1">
            <a:off x="5872163" y="1162050"/>
            <a:ext cx="1195387" cy="0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  <a:tailEnd type="triangle" w="med" len="med"/>
          </a:ln>
        </p:spPr>
      </p:cxnSp>
      <p:sp>
        <p:nvSpPr>
          <p:cNvPr id="39" name="CONTRAST_X_DOWN">
            <a:extLst>
              <a:ext uri="{FF2B5EF4-FFF2-40B4-BE49-F238E27FC236}">
                <a16:creationId xmlns:a16="http://schemas.microsoft.com/office/drawing/2014/main" id="{15B9A29C-2FF5-4553-9B71-5147FC857D67}"/>
              </a:ext>
            </a:extLst>
          </p:cNvPr>
          <p:cNvSpPr>
            <a:spLocks/>
          </p:cNvSpPr>
          <p:nvPr/>
        </p:nvSpPr>
        <p:spPr>
          <a:xfrm>
            <a:off x="5862638" y="1757363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0" name="CONTRAST_X_ACROSS">
            <a:extLst>
              <a:ext uri="{FF2B5EF4-FFF2-40B4-BE49-F238E27FC236}">
                <a16:creationId xmlns:a16="http://schemas.microsoft.com/office/drawing/2014/main" id="{10E40447-72C0-4368-87A7-400F7FB79C34}"/>
              </a:ext>
            </a:extLst>
          </p:cNvPr>
          <p:cNvSpPr>
            <a:spLocks/>
          </p:cNvSpPr>
          <p:nvPr/>
        </p:nvSpPr>
        <p:spPr>
          <a:xfrm>
            <a:off x="8205788" y="1757363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8" name="CONTRAST_X_BRANCH"/>
          <p:cNvCxnSpPr>
            <a:stCxn id="36" idx="2"/>
            <a:endCxn id="39" idx="0"/>
          </p:cNvCxnSpPr>
          <p:nvPr/>
        </p:nvCxnSpPr>
        <p:spPr>
          <a:xfrm>
            <a:off x="5867401" y="1166813"/>
            <a:ext cx="0" cy="590550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</a:ln>
        </p:spPr>
      </p:cxnSp>
      <p:cxnSp>
        <p:nvCxnSpPr>
          <p:cNvPr id="109" name="CONTRAST_X_OVER_FULL"/>
          <p:cNvCxnSpPr>
            <a:stCxn id="39" idx="3"/>
            <a:endCxn id="40" idx="1"/>
          </p:cNvCxnSpPr>
          <p:nvPr/>
        </p:nvCxnSpPr>
        <p:spPr>
          <a:xfrm>
            <a:off x="5872163" y="1762126"/>
            <a:ext cx="2333625" cy="0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</a:ln>
        </p:spPr>
      </p:cxnSp>
      <p:cxnSp>
        <p:nvCxnSpPr>
          <p:cNvPr id="110" name="CONTRAST_X_IN_FULL"/>
          <p:cNvCxnSpPr>
            <a:stCxn id="40" idx="2"/>
            <a:endCxn id="35" idx="0"/>
          </p:cNvCxnSpPr>
          <p:nvPr/>
        </p:nvCxnSpPr>
        <p:spPr>
          <a:xfrm flipH="1">
            <a:off x="8210550" y="1766888"/>
            <a:ext cx="1" cy="319087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  <a:tailEnd type="triangle" w="med" len="med"/>
          </a:ln>
        </p:spPr>
      </p:cxnSp>
      <p:cxnSp>
        <p:nvCxnSpPr>
          <p:cNvPr id="111" name="CONTRAST_R_IN_FULL"/>
          <p:cNvCxnSpPr>
            <a:stCxn id="23" idx="3"/>
            <a:endCxn id="35" idx="1"/>
          </p:cNvCxnSpPr>
          <p:nvPr/>
        </p:nvCxnSpPr>
        <p:spPr>
          <a:xfrm>
            <a:off x="4781550" y="2390775"/>
            <a:ext cx="2286000" cy="0"/>
          </a:xfrm>
          <a:prstGeom prst="straightConnector1">
            <a:avLst/>
          </a:prstGeom>
          <a:ln w="23813" cap="rnd">
            <a:solidFill>
              <a:srgbClr val="B66037"/>
            </a:solidFill>
            <a:round/>
            <a:tailEnd type="triangle" w="med" len="med"/>
          </a:ln>
        </p:spPr>
      </p:cxnSp>
      <p:sp>
        <p:nvSpPr>
          <p:cNvPr id="45" name="CONTRAST_R_LABEL">
            <a:extLst>
              <a:ext uri="{FF2B5EF4-FFF2-40B4-BE49-F238E27FC236}">
                <a16:creationId xmlns:a16="http://schemas.microsoft.com/office/drawing/2014/main" id="{B85C14AA-805E-4F44-A38B-7B43835D414E}"/>
              </a:ext>
            </a:extLst>
          </p:cNvPr>
          <p:cNvSpPr>
            <a:spLocks/>
          </p:cNvSpPr>
          <p:nvPr/>
        </p:nvSpPr>
        <p:spPr>
          <a:xfrm>
            <a:off x="2438400" y="1647825"/>
            <a:ext cx="23431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B660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6037"/>
                </a:solidFill>
                <a:latin typeface="Arial"/>
                <a:ea typeface="Arial"/>
                <a:cs typeface="Arial"/>
              </a:rPr>
              <a:t>r: measured ⟨O⟩</a:t>
            </a:r>
          </a:p>
        </p:txBody>
      </p:sp>
      <p:sp>
        <p:nvSpPr>
          <p:cNvPr id="46" name="CONTRAST_MATCHED_LABEL">
            <a:extLst>
              <a:ext uri="{FF2B5EF4-FFF2-40B4-BE49-F238E27FC236}">
                <a16:creationId xmlns:a16="http://schemas.microsoft.com/office/drawing/2014/main" id="{C56D7A6D-4C1B-4BD8-B012-2F0A58D7B2AB}"/>
              </a:ext>
            </a:extLst>
          </p:cNvPr>
          <p:cNvSpPr>
            <a:spLocks/>
          </p:cNvSpPr>
          <p:nvPr/>
        </p:nvSpPr>
        <p:spPr>
          <a:xfrm>
            <a:off x="6210300" y="274320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6775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7756D"/>
                </a:solidFill>
                <a:latin typeface="Arial"/>
                <a:ea typeface="Arial"/>
                <a:cs typeface="Arial"/>
              </a:rPr>
              <a:t>Same capacity + selection rule</a:t>
            </a:r>
          </a:p>
        </p:txBody>
      </p:sp>
      <p:sp>
        <p:nvSpPr>
          <p:cNvPr id="47" name="CONTRAST_SCORER">
            <a:extLst>
              <a:ext uri="{FF2B5EF4-FFF2-40B4-BE49-F238E27FC236}">
                <a16:creationId xmlns:a16="http://schemas.microsoft.com/office/drawing/2014/main" id="{7632B7C0-FAD8-4CE0-9A41-1A5A5C9480D8}"/>
              </a:ext>
            </a:extLst>
          </p:cNvPr>
          <p:cNvSpPr>
            <a:spLocks/>
          </p:cNvSpPr>
          <p:nvPr/>
        </p:nvSpPr>
        <p:spPr>
          <a:xfrm>
            <a:off x="10287000" y="781050"/>
            <a:ext cx="1466850" cy="1990725"/>
          </a:xfrm>
          <a:prstGeom prst="roundRect">
            <a:avLst>
              <a:gd name="adj" fmla="val 5195"/>
            </a:avLst>
          </a:prstGeom>
          <a:solidFill>
            <a:srgbClr val="FCF3E4"/>
          </a:solidFill>
          <a:ln w="19050">
            <a:solidFill>
              <a:srgbClr val="A96C21"/>
            </a:solidFill>
          </a:ln>
        </p:spPr>
      </p:sp>
      <p:sp>
        <p:nvSpPr>
          <p:cNvPr id="48" name="CONTRAST_MAE_LABEL">
            <a:extLst>
              <a:ext uri="{FF2B5EF4-FFF2-40B4-BE49-F238E27FC236}">
                <a16:creationId xmlns:a16="http://schemas.microsoft.com/office/drawing/2014/main" id="{95CA8D0A-26CC-4452-88AF-1FFC88434663}"/>
              </a:ext>
            </a:extLst>
          </p:cNvPr>
          <p:cNvSpPr>
            <a:spLocks/>
          </p:cNvSpPr>
          <p:nvPr/>
        </p:nvSpPr>
        <p:spPr>
          <a:xfrm>
            <a:off x="10287000" y="1595438"/>
            <a:ext cx="14668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A96C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6C21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49" name="CONTRAST_CONTROL_SCORE">
            <a:extLst>
              <a:ext uri="{FF2B5EF4-FFF2-40B4-BE49-F238E27FC236}">
                <a16:creationId xmlns:a16="http://schemas.microsoft.com/office/drawing/2014/main" id="{DC816DC7-4461-42E8-BF2A-2C59454A70D4}"/>
              </a:ext>
            </a:extLst>
          </p:cNvPr>
          <p:cNvSpPr>
            <a:spLocks/>
          </p:cNvSpPr>
          <p:nvPr/>
        </p:nvSpPr>
        <p:spPr>
          <a:xfrm>
            <a:off x="10610850" y="857250"/>
            <a:ext cx="8191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850" b="1">
                <a:solidFill>
                  <a:srgbClr val="365E4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5E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0" name="CONTRAST_FULL_SCORE">
            <a:extLst>
              <a:ext uri="{FF2B5EF4-FFF2-40B4-BE49-F238E27FC236}">
                <a16:creationId xmlns:a16="http://schemas.microsoft.com/office/drawing/2014/main" id="{D6FF9FBC-F62D-43FC-8372-EA83DA6C0832}"/>
              </a:ext>
            </a:extLst>
          </p:cNvPr>
          <p:cNvSpPr>
            <a:spLocks/>
          </p:cNvSpPr>
          <p:nvPr/>
        </p:nvSpPr>
        <p:spPr>
          <a:xfrm>
            <a:off x="10610850" y="2085975"/>
            <a:ext cx="8191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850" b="1">
                <a:solidFill>
                  <a:srgbClr val="B66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66037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1" name="CONTRAST_C_PORT">
            <a:extLst>
              <a:ext uri="{FF2B5EF4-FFF2-40B4-BE49-F238E27FC236}">
                <a16:creationId xmlns:a16="http://schemas.microsoft.com/office/drawing/2014/main" id="{0B00D8EE-603E-45A3-AA05-23C002F721AD}"/>
              </a:ext>
            </a:extLst>
          </p:cNvPr>
          <p:cNvSpPr>
            <a:spLocks/>
          </p:cNvSpPr>
          <p:nvPr/>
        </p:nvSpPr>
        <p:spPr>
          <a:xfrm>
            <a:off x="10282238" y="1157288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2" name="CONTRAST_F_PORT">
            <a:extLst>
              <a:ext uri="{FF2B5EF4-FFF2-40B4-BE49-F238E27FC236}">
                <a16:creationId xmlns:a16="http://schemas.microsoft.com/office/drawing/2014/main" id="{1F7EC6A4-432B-4E60-9C63-CCA44C2A8E66}"/>
              </a:ext>
            </a:extLst>
          </p:cNvPr>
          <p:cNvSpPr>
            <a:spLocks/>
          </p:cNvSpPr>
          <p:nvPr/>
        </p:nvSpPr>
        <p:spPr>
          <a:xfrm>
            <a:off x="10282238" y="2386013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20" name="CONTRAST_CONTROL_TO_SCORE"/>
          <p:cNvCxnSpPr>
            <a:stCxn id="34" idx="3"/>
            <a:endCxn id="51" idx="1"/>
          </p:cNvCxnSpPr>
          <p:nvPr/>
        </p:nvCxnSpPr>
        <p:spPr>
          <a:xfrm>
            <a:off x="9353550" y="1162050"/>
            <a:ext cx="928688" cy="0"/>
          </a:xfrm>
          <a:prstGeom prst="straightConnector1">
            <a:avLst/>
          </a:prstGeom>
          <a:ln w="23813" cap="rnd">
            <a:solidFill>
              <a:srgbClr val="365E49"/>
            </a:solidFill>
            <a:round/>
            <a:tailEnd type="triangle" w="med" len="med"/>
          </a:ln>
        </p:spPr>
      </p:cxnSp>
      <p:cxnSp>
        <p:nvCxnSpPr>
          <p:cNvPr id="121" name="CONTRAST_FULL_TO_SCORE"/>
          <p:cNvCxnSpPr>
            <a:stCxn id="35" idx="3"/>
            <a:endCxn id="52" idx="1"/>
          </p:cNvCxnSpPr>
          <p:nvPr/>
        </p:nvCxnSpPr>
        <p:spPr>
          <a:xfrm>
            <a:off x="9353550" y="2390775"/>
            <a:ext cx="928688" cy="0"/>
          </a:xfrm>
          <a:prstGeom prst="straightConnector1">
            <a:avLst/>
          </a:prstGeom>
          <a:ln w="23813" cap="rnd">
            <a:solidFill>
              <a:srgbClr val="B66037"/>
            </a:solidFill>
            <a:round/>
            <a:tailEnd type="triangle" w="med" len="med"/>
          </a:ln>
        </p:spPr>
      </p:cxnSp>
      <p:sp>
        <p:nvSpPr>
          <p:cNvPr id="55" name="CONTRAST_CONTROL_ESTIMATE">
            <a:extLst>
              <a:ext uri="{FF2B5EF4-FFF2-40B4-BE49-F238E27FC236}">
                <a16:creationId xmlns:a16="http://schemas.microsoft.com/office/drawing/2014/main" id="{6371DBCB-885E-4FC7-A57C-910C0CF47D6A}"/>
              </a:ext>
            </a:extLst>
          </p:cNvPr>
          <p:cNvSpPr>
            <a:spLocks/>
          </p:cNvSpPr>
          <p:nvPr/>
        </p:nvSpPr>
        <p:spPr>
          <a:xfrm>
            <a:off x="9439275" y="771525"/>
            <a:ext cx="7715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365E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65E49"/>
                </a:solidFill>
                <a:latin typeface="Arial"/>
                <a:ea typeface="Arial"/>
                <a:cs typeface="Arial"/>
              </a:rPr>
              <a:t>ŷC</a:t>
            </a:r>
          </a:p>
        </p:txBody>
      </p:sp>
      <p:sp>
        <p:nvSpPr>
          <p:cNvPr id="56" name="CONTRAST_FULL_ESTIMATE">
            <a:extLst>
              <a:ext uri="{FF2B5EF4-FFF2-40B4-BE49-F238E27FC236}">
                <a16:creationId xmlns:a16="http://schemas.microsoft.com/office/drawing/2014/main" id="{82A55FCA-D40F-4E59-BD6C-77C571DD30BD}"/>
              </a:ext>
            </a:extLst>
          </p:cNvPr>
          <p:cNvSpPr>
            <a:spLocks/>
          </p:cNvSpPr>
          <p:nvPr/>
        </p:nvSpPr>
        <p:spPr>
          <a:xfrm>
            <a:off x="9439275" y="2000250"/>
            <a:ext cx="7715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B660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6037"/>
                </a:solidFill>
                <a:latin typeface="Arial"/>
                <a:ea typeface="Arial"/>
                <a:cs typeface="Arial"/>
              </a:rPr>
              <a:t>ŷF</a:t>
            </a:r>
          </a:p>
        </p:txBody>
      </p:sp>
      <p:sp>
        <p:nvSpPr>
          <p:cNvPr id="57" name="CONTRAST_EXACT_TURN">
            <a:extLst>
              <a:ext uri="{FF2B5EF4-FFF2-40B4-BE49-F238E27FC236}">
                <a16:creationId xmlns:a16="http://schemas.microsoft.com/office/drawing/2014/main" id="{80505467-6500-4227-B530-9359B94D1CAC}"/>
              </a:ext>
            </a:extLst>
          </p:cNvPr>
          <p:cNvSpPr>
            <a:spLocks/>
          </p:cNvSpPr>
          <p:nvPr/>
        </p:nvSpPr>
        <p:spPr>
          <a:xfrm>
            <a:off x="11015663" y="3519488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25" name="CONTRAST_EXACT_BUS"/>
          <p:cNvCxnSpPr>
            <a:stCxn id="24" idx="3"/>
            <a:endCxn id="57" idx="1"/>
          </p:cNvCxnSpPr>
          <p:nvPr/>
        </p:nvCxnSpPr>
        <p:spPr>
          <a:xfrm>
            <a:off x="4781550" y="3524250"/>
            <a:ext cx="6234113" cy="0"/>
          </a:xfrm>
          <a:prstGeom prst="straightConnector1">
            <a:avLst/>
          </a:prstGeom>
          <a:ln w="23813" cap="rnd">
            <a:solidFill>
              <a:srgbClr val="A96C21"/>
            </a:solidFill>
            <a:round/>
          </a:ln>
        </p:spPr>
      </p:cxnSp>
      <p:cxnSp>
        <p:nvCxnSpPr>
          <p:cNvPr id="126" name="CONTRAST_EXACT_TO_SCORER"/>
          <p:cNvCxnSpPr>
            <a:stCxn id="57" idx="0"/>
            <a:endCxn id="47" idx="2"/>
          </p:cNvCxnSpPr>
          <p:nvPr/>
        </p:nvCxnSpPr>
        <p:spPr>
          <a:xfrm flipH="1" flipV="1">
            <a:off x="11020425" y="2771775"/>
            <a:ext cx="0" cy="747713"/>
          </a:xfrm>
          <a:prstGeom prst="straightConnector1">
            <a:avLst/>
          </a:prstGeom>
          <a:ln w="23813" cap="rnd">
            <a:solidFill>
              <a:srgbClr val="A96C21"/>
            </a:solidFill>
            <a:round/>
            <a:tailEnd type="triangle" w="med" len="med"/>
          </a:ln>
        </p:spPr>
      </p:cxnSp>
      <p:sp>
        <p:nvSpPr>
          <p:cNvPr id="60" name="CONTRAST_EXACT_LABEL">
            <a:extLst>
              <a:ext uri="{FF2B5EF4-FFF2-40B4-BE49-F238E27FC236}">
                <a16:creationId xmlns:a16="http://schemas.microsoft.com/office/drawing/2014/main" id="{CD72CDFF-40DD-467F-B04B-BC5D3FF3C088}"/>
              </a:ext>
            </a:extLst>
          </p:cNvPr>
          <p:cNvSpPr>
            <a:spLocks/>
          </p:cNvSpPr>
          <p:nvPr/>
        </p:nvSpPr>
        <p:spPr>
          <a:xfrm>
            <a:off x="5391150" y="3133725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A96C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6C21"/>
                </a:solidFill>
                <a:latin typeface="Arial"/>
                <a:ea typeface="Arial"/>
                <a:cs typeface="Arial"/>
              </a:rPr>
              <a:t>y: exact ideal ⟨O⟩</a:t>
            </a:r>
          </a:p>
        </p:txBody>
      </p:sp>
      <p:cxnSp>
        <p:nvCxnSpPr>
          <p:cNvPr id="129" name="CONTRAST_SCORES_TO_READING"/>
          <p:cNvCxnSpPr>
            <a:stCxn id="47" idx="3"/>
            <a:endCxn id="61" idx="1"/>
          </p:cNvCxnSpPr>
          <p:nvPr/>
        </p:nvCxnSpPr>
        <p:spPr>
          <a:xfrm>
            <a:off x="11753850" y="1776413"/>
            <a:ext cx="438150" cy="0"/>
          </a:xfrm>
          <a:prstGeom prst="straightConnector1">
            <a:avLst/>
          </a:prstGeom>
          <a:ln w="23813" cap="rnd">
            <a:solidFill>
              <a:srgbClr val="67756D"/>
            </a:solidFill>
            <a:round/>
            <a:tailEnd type="triangle" w="med" len="med"/>
          </a:ln>
        </p:spPr>
      </p:cxnSp>
      <p:grpSp>
        <p:nvGrpSpPr>
          <p:cNvPr id="28" name="GROUP_READING">
            <a:extLst>
              <a:ext uri="{FF2B5EF4-FFF2-40B4-BE49-F238E27FC236}">
                <a16:creationId xmlns:a16="http://schemas.microsoft.com/office/drawing/2014/main" id="{E8413033-B000-E7C5-D000-C1893FF9EFC4}"/>
              </a:ext>
            </a:extLst>
          </p:cNvPr>
          <p:cNvGrpSpPr/>
          <p:nvPr/>
        </p:nvGrpSpPr>
        <p:grpSpPr>
          <a:xfrm>
            <a:off x="12192000" y="919163"/>
            <a:ext cx="3429000" cy="2719387"/>
            <a:chOff x="12192000" y="919163"/>
            <a:chExt cx="3429000" cy="2719387"/>
          </a:xfrm>
        </p:grpSpPr>
        <p:sp>
          <p:nvSpPr>
            <p:cNvPr id="61" name="READING_ANCHOR">
              <a:extLst>
                <a:ext uri="{FF2B5EF4-FFF2-40B4-BE49-F238E27FC236}">
                  <a16:creationId xmlns:a16="http://schemas.microsoft.com/office/drawing/2014/main" id="{61B3DFD2-FF7B-4B31-8AD9-A3D31AC87255}"/>
                </a:ext>
              </a:extLst>
            </p:cNvPr>
            <p:cNvSpPr>
              <a:spLocks/>
            </p:cNvSpPr>
            <p:nvPr/>
          </p:nvSpPr>
          <p:spPr>
            <a:xfrm>
              <a:off x="12192000" y="919163"/>
              <a:ext cx="3429000" cy="171450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3" name="READING_GAP">
              <a:extLst>
                <a:ext uri="{FF2B5EF4-FFF2-40B4-BE49-F238E27FC236}">
                  <a16:creationId xmlns:a16="http://schemas.microsoft.com/office/drawing/2014/main" id="{1FB0E828-39DD-434B-8AFA-EAD0DEC3A21C}"/>
                </a:ext>
              </a:extLst>
            </p:cNvPr>
            <p:cNvSpPr>
              <a:spLocks/>
            </p:cNvSpPr>
            <p:nvPr/>
          </p:nvSpPr>
          <p:spPr>
            <a:xfrm>
              <a:off x="12325350" y="1019175"/>
              <a:ext cx="3181350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3000" b="1">
                  <a:solidFill>
                    <a:srgbClr val="B66037"/>
                  </a:solidFill>
                  <a:latin typeface="Arial"/>
                  <a:ea typeface="Arial"/>
                  <a:cs typeface="Arial"/>
                </a:defRPr>
              </a:pPr>
              <a:r>
                <a:rPr sz="3000" b="1">
                  <a:solidFill>
                    <a:srgbClr val="B66037"/>
                  </a:solidFill>
                  <a:latin typeface="Arial"/>
                  <a:ea typeface="Arial"/>
                  <a:cs typeface="Arial"/>
                </a:rPr>
                <a:t>D = C − F</a:t>
              </a:r>
            </a:p>
          </p:txBody>
        </p:sp>
        <p:sp>
          <p:nvSpPr>
            <p:cNvPr id="64" name="READING_GAP_LABEL">
              <a:extLst>
                <a:ext uri="{FF2B5EF4-FFF2-40B4-BE49-F238E27FC236}">
                  <a16:creationId xmlns:a16="http://schemas.microsoft.com/office/drawing/2014/main" id="{707A9787-589A-4968-AC34-1A22E8E494FA}"/>
                </a:ext>
              </a:extLst>
            </p:cNvPr>
            <p:cNvSpPr>
              <a:spLocks/>
            </p:cNvSpPr>
            <p:nvPr/>
          </p:nvSpPr>
          <p:spPr>
            <a:xfrm>
              <a:off x="12325350" y="1595438"/>
              <a:ext cx="318135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100" b="0">
                  <a:solidFill>
                    <a:srgbClr val="B660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B66037"/>
                  </a:solidFill>
                  <a:latin typeface="Arial"/>
                  <a:ea typeface="Arial"/>
                  <a:cs typeface="Arial"/>
                </a:rPr>
                <a:t>Gain from adding r</a:t>
              </a:r>
            </a:p>
          </p:txBody>
        </p:sp>
        <p:sp>
          <p:nvSpPr>
            <p:cNvPr id="65" name="READING_SHARE">
              <a:extLst>
                <a:ext uri="{FF2B5EF4-FFF2-40B4-BE49-F238E27FC236}">
                  <a16:creationId xmlns:a16="http://schemas.microsoft.com/office/drawing/2014/main" id="{013275D9-1CAC-4053-B0E6-B90361F28DDA}"/>
                </a:ext>
              </a:extLst>
            </p:cNvPr>
            <p:cNvSpPr>
              <a:spLocks/>
            </p:cNvSpPr>
            <p:nvPr/>
          </p:nvSpPr>
          <p:spPr>
            <a:xfrm>
              <a:off x="12192000" y="2371725"/>
              <a:ext cx="34290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365E49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365E49"/>
                  </a:solidFill>
                  <a:latin typeface="Arial"/>
                  <a:ea typeface="Arial"/>
                  <a:cs typeface="Arial"/>
                </a:rPr>
                <a:t>S = (A − C)/(A − F)</a:t>
              </a:r>
            </a:p>
          </p:txBody>
        </p:sp>
        <p:sp>
          <p:nvSpPr>
            <p:cNvPr id="66" name="READING_SHARE_LABEL">
              <a:extLst>
                <a:ext uri="{FF2B5EF4-FFF2-40B4-BE49-F238E27FC236}">
                  <a16:creationId xmlns:a16="http://schemas.microsoft.com/office/drawing/2014/main" id="{9E485CD7-0EFC-4CCD-AA0F-CAFBA5345C3B}"/>
                </a:ext>
              </a:extLst>
            </p:cNvPr>
            <p:cNvSpPr>
              <a:spLocks/>
            </p:cNvSpPr>
            <p:nvPr/>
          </p:nvSpPr>
          <p:spPr>
            <a:xfrm>
              <a:off x="12192000" y="2828925"/>
              <a:ext cx="34290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100" b="0">
                  <a:solidFill>
                    <a:srgbClr val="365E49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65E49"/>
                  </a:solidFill>
                  <a:latin typeface="Arial"/>
                  <a:ea typeface="Arial"/>
                  <a:cs typeface="Arial"/>
                </a:rPr>
                <a:t>Share reproduced without r</a:t>
              </a:r>
            </a:p>
          </p:txBody>
        </p:sp>
        <p:sp>
          <p:nvSpPr>
            <p:cNvPr id="67" name="READING_A_LABEL">
              <a:extLst>
                <a:ext uri="{FF2B5EF4-FFF2-40B4-BE49-F238E27FC236}">
                  <a16:creationId xmlns:a16="http://schemas.microsoft.com/office/drawing/2014/main" id="{1338298E-A0F3-4B90-9DA2-6E9AE4474645}"/>
                </a:ext>
              </a:extLst>
            </p:cNvPr>
            <p:cNvSpPr>
              <a:spLocks/>
            </p:cNvSpPr>
            <p:nvPr/>
          </p:nvSpPr>
          <p:spPr>
            <a:xfrm>
              <a:off x="12192000" y="3276600"/>
              <a:ext cx="34290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67756D"/>
                  </a:solidFill>
                  <a:latin typeface="Arial"/>
                  <a:ea typeface="Arial"/>
                  <a:cs typeface="Arial"/>
                </a:rPr>
                <a:t>A: affine control MAE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1476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02923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02923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DocSecurity>0</DocSecurity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Yue Zhao</cp:lastModifiedBy>
  <cp:revision>1</cp:revision>
  <dcterms:created xsi:type="dcterms:W3CDTF">2026-09-15T05:58:32Z</dcterms:created>
  <dcterms:modified xsi:type="dcterms:W3CDTF">2026-09-15T05:58:41Z</dcterms:modified>
</cp:coreProperties>
</file>